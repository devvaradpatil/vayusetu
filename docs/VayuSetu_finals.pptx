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59" r:id="rId10"/>
    <p:sldId id="263" r:id="rId14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10" Type="http://schemas.openxmlformats.org/officeDocument/2006/relationships/slide" Target="slides/slide4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4577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800" b="1">
                <a:solidFill>
                  <a:srgbClr val="1A1C21"/>
                </a:solidFill>
                <a:latin typeface="Segoe UI"/>
              </a:rPr>
              <a:t>VayuSetu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0">
                <a:solidFill>
                  <a:srgbClr val="434750"/>
                </a:solidFill>
                <a:latin typeface="Segoe UI"/>
              </a:rPr>
              <a:t>Why the air is bad, where it is worst, and who should act — with every number measured.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57D0"/>
                </a:solidFill>
                <a:latin typeface="Segoe UI"/>
              </a:rPr>
              <a:t>Build with AI: Code for Communities · Track 02, Clean Air &amp; Climate Resilience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434750"/>
                </a:solidFill>
                <a:latin typeface="Segoe UI"/>
              </a:rPr>
              <a:t>Live: vayusetu-999960875509.asia-south1.run.app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57D0"/>
                </a:solidFill>
                <a:latin typeface="Segoe UI"/>
              </a:rPr>
              <a:t>12 NOVEMBER 2025, 01:30 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1C21"/>
                </a:solidFill>
                <a:latin typeface="Segoe UI"/>
              </a:rPr>
              <a:t>A real episode, explained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2430703" cy="1371600"/>
          </a:xfrm>
          <a:prstGeom prst="rect">
            <a:avLst/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3000" b="1">
                <a:solidFill>
                  <a:srgbClr val="991B1B"/>
                </a:solidFill>
                <a:latin typeface="Segoe UI"/>
              </a:rPr>
              <a:t>407.3</a:t>
            </a:r>
          </a:p>
          <a:p>
            <a:r>
              <a:rPr sz="1250">
                <a:solidFill>
                  <a:srgbClr val="434750"/>
                </a:solidFill>
                <a:latin typeface="Segoe UI"/>
              </a:rPr>
              <a:t>µg/m³ city average — Severe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527983" y="1920240"/>
            <a:ext cx="2430703" cy="1371600"/>
          </a:xfrm>
          <a:prstGeom prst="rect">
            <a:avLst/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3000" b="1">
                <a:solidFill>
                  <a:srgbClr val="1A1C21"/>
                </a:solidFill>
                <a:latin typeface="Segoe UI"/>
              </a:rPr>
              <a:t>110 m</a:t>
            </a:r>
          </a:p>
          <a:p>
            <a:r>
              <a:rPr sz="1250">
                <a:solidFill>
                  <a:srgbClr val="434750"/>
                </a:solidFill>
                <a:latin typeface="Segoe UI"/>
              </a:rPr>
              <a:t>air ceiling trapping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6" y="1920240"/>
            <a:ext cx="2430703" cy="1371600"/>
          </a:xfrm>
          <a:prstGeom prst="rect">
            <a:avLst/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3000" b="1">
                <a:solidFill>
                  <a:srgbClr val="EA580C"/>
                </a:solidFill>
                <a:latin typeface="Segoe UI"/>
              </a:rPr>
              <a:t>33</a:t>
            </a:r>
          </a:p>
          <a:p>
            <a:r>
              <a:rPr sz="1250">
                <a:solidFill>
                  <a:srgbClr val="434750"/>
                </a:solidFill>
                <a:latin typeface="Segoe UI"/>
              </a:rPr>
              <a:t>fires inside the upwind fan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938029" y="1920240"/>
            <a:ext cx="2430703" cy="1371600"/>
          </a:xfrm>
          <a:prstGeom prst="rect">
            <a:avLst/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3000" b="1">
                <a:solidFill>
                  <a:srgbClr val="0B57D0"/>
                </a:solidFill>
                <a:latin typeface="Segoe UI"/>
              </a:rPr>
              <a:t>0.85</a:t>
            </a:r>
          </a:p>
          <a:p>
            <a:r>
              <a:rPr sz="1250">
                <a:solidFill>
                  <a:srgbClr val="434750"/>
                </a:solidFill>
                <a:latin typeface="Segoe UI"/>
              </a:rPr>
              <a:t>Gemini's confidence, cause: crop burning</a:t>
            </a:r>
          </a:p>
        </p:txBody>
      </p:sp>
      <p:pic>
        <p:nvPicPr>
          <p:cNvPr id="8" name="Picture 7" descr="asse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460" y="3520440"/>
            <a:ext cx="6172775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57D0"/>
                </a:solidFill>
                <a:latin typeface="Segoe UI"/>
              </a:rPr>
              <a:t>ACCOUNTABILITY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1C21"/>
                </a:solidFill>
                <a:latin typeface="Segoe UI"/>
              </a:rPr>
              <a:t>A case closes only when the evidence agrees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Measurements open a case for the agency named on the monitor itself, with a deadline: 24 h for a local event, 72 h for a broken monitor, 12 h for a regional episode.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Overdue and CAQM escalation are computed on read, so there is no scheduler to fail quietly.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To close: a site photo Gemini examines (is it genuine, is a source still visible), taken within 1 km — and the readings afterwards must show the problem gone.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A region-wide case cannot be closed with a note while the monitors still show Severe a day later. The refusal, and its reason, go in the audit trail.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Every agency and officer is a demo account: no real contact details exist in this codebase.</a:t>
            </a:r>
          </a:p>
        </p:txBody>
      </p:sp>
      <p:pic>
        <p:nvPicPr>
          <p:cNvPr id="5" name="Picture 4" descr="asse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846" y="5623560"/>
            <a:ext cx="7776002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57D0"/>
                </a:solidFill>
                <a:latin typeface="Segoe UI"/>
              </a:rPr>
              <a:t>RESIDENTS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1C21"/>
                </a:solidFill>
                <a:latin typeface="Segoe UI"/>
              </a:rPr>
              <a:t>The same facts, in the resident's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Ten Indian languages, with the advice read aloud.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Health guidance follows the CPCB band, written for someone who has never seen an AQI map.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A resident can send a photo of the haze; Gemini triages it, and it can corroborate a reading but can never set a pollution value or trigger a response on its own.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Installs as an app; the service worker never caches a reading.</a:t>
            </a:r>
          </a:p>
        </p:txBody>
      </p:sp>
      <p:pic>
        <p:nvPicPr>
          <p:cNvPr id="5" name="Picture 4" descr="asse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52807"/>
            <a:ext cx="4572000" cy="32325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57D0"/>
                </a:solidFill>
                <a:latin typeface="Segoe UI"/>
              </a:rPr>
              <a:t>RIGOUR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1C21"/>
                </a:solidFill>
                <a:latin typeface="Segoe UI"/>
              </a:rPr>
              <a:t>We tested our own ideas, and published what failed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920240"/>
          <a:ext cx="10545774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2887"/>
                <a:gridCol w="5272887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C21"/>
                          </a:solidFill>
                        </a:rPr>
                        <a:t>Claim we tested</a:t>
                      </a:r>
                    </a:p>
                  </a:txBody>
                  <a:tcPr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C21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C21"/>
                          </a:solidFill>
                        </a:rPr>
                        <a:t>Gridded ML beats interpolation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No — loses at every network density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C21"/>
                          </a:solidFill>
                        </a:rPr>
                        <a:t>Satellite AOD explains the gaps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No — r = +0.04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C21"/>
                          </a:solidFill>
                        </a:rPr>
                        <a:t>72-hour forecast beats persistence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No — loses at every horizon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C21"/>
                          </a:solidFill>
                        </a:rPr>
                        <a:t>Day-ahead Severe warning beats the calendar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No — +0.61 against the calendar's +0.71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C21"/>
                          </a:solidFill>
                        </a:rPr>
                        <a:t>Our top hotspot was real pollution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No — a faulty monitor; 22 of the top 40 were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C21"/>
                          </a:solidFill>
                        </a:rPr>
                        <a:t>Burned area explains daily PM2.5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No — r = −0.66, the smoke hides the scars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C21"/>
                          </a:solidFill>
                        </a:rPr>
                        <a:t>Upwind fires + air ceiling explain episodes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Yes — r = +0.55 and −0.42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76072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57D0"/>
                </a:solidFill>
                <a:latin typeface="Segoe UI"/>
              </a:rPr>
              <a:t>The model registry refuses a model that loses to its baseline. It refused ours, so none of these is in the product.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